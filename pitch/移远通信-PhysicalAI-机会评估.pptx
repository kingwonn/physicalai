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424160" y="914400"/>
            <a:ext cx="457200" cy="457200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155680" y="1463040"/>
            <a:ext cx="457200" cy="457200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0881360" y="2194560"/>
            <a:ext cx="457200" cy="457200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5836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内部决策简报  ·  具身智能机会评估  ·  2026-07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77056" y="713232"/>
            <a:ext cx="91440" cy="91440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80160"/>
            <a:ext cx="10972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BE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</a:t>
            </a:r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2ED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已经在场</a:t>
            </a:r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BE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8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BE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问题不是要不要进,而是</a:t>
            </a:r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放大,还是被挤出</a:t>
            </a:r>
            <a:pPr algn="l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BE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66928" y="37033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全球蜂窝物联网模组第一的移远通信,机器人不是一道“要不要进入”的选择题——公司已有面向机器人的专用算力模组、与人形整机厂的联合方案、和一笔写进定增募投的机器人预算。真问题是:趁窗口正开、友商竞速正烈,把已经跑起来的业务从试点级推到产线级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4983480"/>
            <a:ext cx="2572436" cy="1234440"/>
          </a:xfrm>
          <a:prstGeom prst="rect">
            <a:avLst/>
          </a:prstGeom>
          <a:solidFill>
            <a:srgbClr val="18242B"/>
          </a:solidFill>
          <a:ln w="12700">
            <a:solidFill>
              <a:srgbClr val="212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68096" y="5239512"/>
            <a:ext cx="91440" cy="91440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512978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蜂窝 IoT 模组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5440680"/>
            <a:ext cx="2206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 #1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68096" y="5897880"/>
            <a:ext cx="220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 份额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5396" y="4983480"/>
            <a:ext cx="2572436" cy="1234440"/>
          </a:xfrm>
          <a:prstGeom prst="rect">
            <a:avLst/>
          </a:prstGeom>
          <a:solidFill>
            <a:srgbClr val="18242B"/>
          </a:solidFill>
          <a:ln w="12700">
            <a:solidFill>
              <a:srgbClr val="212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596564" y="5239512"/>
            <a:ext cx="91440" cy="91440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79444" y="512978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营收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6564" y="5440680"/>
            <a:ext cx="2206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¥243 亿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596564" y="5897880"/>
            <a:ext cx="220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YoY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3864" y="4983480"/>
            <a:ext cx="2572436" cy="1234440"/>
          </a:xfrm>
          <a:prstGeom prst="rect">
            <a:avLst/>
          </a:prstGeom>
          <a:solidFill>
            <a:srgbClr val="18242B"/>
          </a:solidFill>
          <a:ln w="12700">
            <a:solidFill>
              <a:srgbClr val="212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6425032" y="5239512"/>
            <a:ext cx="91440" cy="91440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07912" y="512978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机器人算力模组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25032" y="5440680"/>
            <a:ext cx="2206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款在售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425032" y="5897880"/>
            <a:ext cx="220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 77 TOPS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331" y="4983480"/>
            <a:ext cx="2572436" cy="1234440"/>
          </a:xfrm>
          <a:prstGeom prst="rect">
            <a:avLst/>
          </a:prstGeom>
          <a:solidFill>
            <a:srgbClr val="18242B"/>
          </a:solidFill>
          <a:ln w="12700">
            <a:solidFill>
              <a:srgbClr val="212F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9253499" y="5239512"/>
            <a:ext cx="91440" cy="91440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26" name="Text 24"/>
          <p:cNvSpPr/>
          <p:nvPr/>
        </p:nvSpPr>
        <p:spPr>
          <a:xfrm>
            <a:off x="9436379" y="5129784"/>
            <a:ext cx="211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机器人募投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3499" y="5440680"/>
            <a:ext cx="2206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¥4.11 亿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9253499" y="5897880"/>
            <a:ext cx="220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已到位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F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呈:市场销售 VP · 创始人      移远通信 603236 · Quectel      内部决策材料 · 非投资建议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判断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先厘清:这是“扩张”,不是“进入”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很多机器人 pitch 从零起步,要老板赌一个方向。移远不一样——它已有多季度、多产品、多合作的活跃业务。这把决策从“要不要冒险”变成“要不要守住已有的领先”。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5391760" cy="141732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822960" y="2734056"/>
            <a:ext cx="118872" cy="118872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60604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算力模组梯队已成型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2416" y="2990088"/>
            <a:ext cx="470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SG885G 48 TOPS → SH602HA-AP(专用机器人模组,CES 2026)→ SP895BD-AP 77 TOPS,端侧可跑 110 亿参数大模型。 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2423160"/>
            <a:ext cx="5391760" cy="141732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489040" y="2734056"/>
            <a:ext cx="118872" cy="118872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1" name="Text 9"/>
          <p:cNvSpPr/>
          <p:nvPr/>
        </p:nvSpPr>
        <p:spPr>
          <a:xfrm>
            <a:off x="6708496" y="2606040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已跑在真人形上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708496" y="2990088"/>
            <a:ext cx="470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与逐际动力(LimX)联合发布 Robrain 机器人大脑,MWC 上海 2025 现场跑在双足人形 TRON 1。 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5391760" cy="141732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822960" y="4407408"/>
            <a:ext cx="118872" cy="118872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279392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已有量产客户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42416" y="4663440"/>
            <a:ext cx="470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四足机器人通信模组据报道已对宇树(Unitree)量产;公司披露只说“行业头部公司”。 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(二手)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4096512"/>
            <a:ext cx="5391760" cy="141732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6489040" y="4407408"/>
            <a:ext cx="118872" cy="118872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9" name="Text 17"/>
          <p:cNvSpPr/>
          <p:nvPr/>
        </p:nvSpPr>
        <p:spPr>
          <a:xfrm>
            <a:off x="6708496" y="4279392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弹药已备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08496" y="4663440"/>
            <a:ext cx="470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定增总募资 ≤¥23 亿,其中 AI 机器人模组 ¥4.11 亿,注册稿范围含人形/工业/服务机器人。  </a:t>
            </a:r>
            <a:pPr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9893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“要不要进入”在事实上就是错的框架。待定的是放大的深度(独立事业部/披露营收/更广的具名设计导入)与防御性(如何抵住高通/NVIDIA 原厂直供与广和通/美格同场竞争)。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既成事实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我们的算力模组梯队:10 → 48 → 77 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PPT 上的愿景,是已发布的产品。每条标了来源强度,让高管一眼看清哪些铁、哪些软。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503066" cy="2743200"/>
          </a:xfrm>
          <a:prstGeom prst="rect">
            <a:avLst/>
          </a:prstGeom>
          <a:solidFill>
            <a:srgbClr val="F1F5F5"/>
          </a:solidFill>
          <a:ln w="15240">
            <a:solidFill>
              <a:srgbClr val="D8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54203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SH602HA-AP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94436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D-Robotics Sunrise5 / X5M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3520440"/>
            <a:ext cx="1624935" cy="82296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9" name="Shape 7"/>
          <p:cNvSpPr/>
          <p:nvPr/>
        </p:nvSpPr>
        <p:spPr>
          <a:xfrm>
            <a:off x="2466183" y="3520440"/>
            <a:ext cx="1329492" cy="82296"/>
          </a:xfrm>
          <a:prstGeom prst="rect">
            <a:avLst/>
          </a:prstGeom>
          <a:solidFill>
            <a:srgbClr val="D8DED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31373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TOPS BPU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41248" y="4407408"/>
            <a:ext cx="3000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点名人形 / 轮臂 / 四足 / 陪伴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718304"/>
            <a:ext cx="3000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2026  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4314" y="2286000"/>
            <a:ext cx="3503066" cy="2743200"/>
          </a:xfrm>
          <a:prstGeom prst="rect">
            <a:avLst/>
          </a:prstGeom>
          <a:solidFill>
            <a:srgbClr val="F1F5F5"/>
          </a:solidFill>
          <a:ln w="15240">
            <a:solidFill>
              <a:srgbClr val="D8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8634" y="254203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SG885G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8634" y="294436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 QCS8550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8634" y="3520440"/>
            <a:ext cx="2304453" cy="82296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923087" y="3520440"/>
            <a:ext cx="649974" cy="82296"/>
          </a:xfrm>
          <a:prstGeom prst="rect">
            <a:avLst/>
          </a:prstGeom>
          <a:solidFill>
            <a:srgbClr val="D8DEDE"/>
          </a:solidFill>
          <a:ln/>
        </p:spPr>
      </p:sp>
      <p:sp>
        <p:nvSpPr>
          <p:cNvPr id="18" name="Text 16"/>
          <p:cNvSpPr/>
          <p:nvPr/>
        </p:nvSpPr>
        <p:spPr>
          <a:xfrm>
            <a:off x="4600346" y="3657600"/>
            <a:ext cx="31373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pPr indent="0" marL="0">
              <a:buNone/>
            </a:pPr>
            <a:r>
              <a:rPr lang="en-US" sz="130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18634" y="4407408"/>
            <a:ext cx="3000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/ 边缘计算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8634" y="4718304"/>
            <a:ext cx="3000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2023–24  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1701" y="2286000"/>
            <a:ext cx="3503066" cy="2743200"/>
          </a:xfrm>
          <a:prstGeom prst="rect">
            <a:avLst/>
          </a:prstGeom>
          <a:solidFill>
            <a:srgbClr val="0F171C"/>
          </a:solidFill>
          <a:ln w="15240">
            <a:solidFill>
              <a:srgbClr val="0F171C"/>
            </a:solidFill>
            <a:prstDash val="solid"/>
          </a:ln>
          <a:effectLst>
            <a:outerShdw sx="100000" sy="100000" kx="0" ky="0" algn="bl" rotWithShape="0" blurRad="127000" dist="38100" dir="5400000">
              <a:srgbClr val="0C8C8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96021" y="254203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SP895BD-AP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96021" y="294436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 Q-8750 · 3nm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96021" y="3520440"/>
            <a:ext cx="2954426" cy="82296"/>
          </a:xfrm>
          <a:prstGeom prst="rect">
            <a:avLst/>
          </a:prstGeom>
          <a:solidFill>
            <a:srgbClr val="2ED6C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50447" y="3520440"/>
            <a:ext cx="0" cy="82296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26" name="Text 24"/>
          <p:cNvSpPr/>
          <p:nvPr/>
        </p:nvSpPr>
        <p:spPr>
          <a:xfrm>
            <a:off x="8377733" y="3657600"/>
            <a:ext cx="31373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pPr indent="0" marL="0">
              <a:buNone/>
            </a:pPr>
            <a:r>
              <a:rPr lang="en-US" sz="130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TOPS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396021" y="4407408"/>
            <a:ext cx="3000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110 亿参数 LLM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96021" y="4718304"/>
            <a:ext cx="3000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2026  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(一手)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53492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Robrain × 逐际动力,跑在双足人形 TRON 1(MWC 上海 2025) 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四足模组对宇树量产(二手) 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弹药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¥4.11 亿 AI 机器人募投(一手)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4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谁在逼近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 18 个月,都在抢同一批 socket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同场竞争者按机器人承诺度排序。设计导入具汽车级黏性,每一步都让下一步更便宜——晚进只剩残羹。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57839" cy="713232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148840"/>
            <a:ext cx="54864" cy="713232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52728" y="2249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美格智能   </a:t>
            </a:r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002881 · 模组同行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52728" y="253288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SNM970(48 TOPS)为双模组 ~100 TOPS 人形“通天晓”算力核心 · CES 2025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3279" y="22768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直接威胁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14255" y="2441448"/>
            <a:ext cx="1920240" cy="146304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9814255" y="2441448"/>
            <a:ext cx="1766621" cy="146304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916936"/>
            <a:ext cx="11057839" cy="713232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916936"/>
            <a:ext cx="54864" cy="713232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0906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52728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Thundercomm 创通   </a:t>
            </a:r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高通生态集成商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52728" y="330098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TurboX IRB10(Dragonwing IQ10,峰值 700 TOPS,20 路摄像头)· EW 2026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3279" y="3044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高端威胁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14255" y="3209544"/>
            <a:ext cx="1920240" cy="146304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14255" y="3209544"/>
            <a:ext cx="1689811" cy="146304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685032"/>
            <a:ext cx="11057839" cy="713232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685032"/>
            <a:ext cx="54864" cy="713232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858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52728" y="3785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 Qualcomm   </a:t>
            </a:r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芯片原厂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252728" y="40690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CES 2026 全套机器人技术;Figure 直接合作“定义计算架构”——越过模组商直供整机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63279" y="38130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结构威胁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14255" y="3977640"/>
            <a:ext cx="1920240" cy="146304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28" name="Shape 26"/>
          <p:cNvSpPr/>
          <p:nvPr/>
        </p:nvSpPr>
        <p:spPr>
          <a:xfrm>
            <a:off x="9814255" y="3977640"/>
            <a:ext cx="1536192" cy="146304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4453128"/>
            <a:ext cx="11057839" cy="713232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52728" y="45537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  </a:t>
            </a:r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芯片原厂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252728" y="483717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Jetson Thor(2,070 FP4 TFLOPS)· 高端全尺寸人形大脑事实标准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63279" y="45811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高端标准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14255" y="4745736"/>
            <a:ext cx="1920240" cy="146304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35" name="Shape 33"/>
          <p:cNvSpPr/>
          <p:nvPr/>
        </p:nvSpPr>
        <p:spPr>
          <a:xfrm>
            <a:off x="9814255" y="4745736"/>
            <a:ext cx="1420978" cy="146304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5221224"/>
            <a:ext cx="11057839" cy="713232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5394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A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252728" y="5321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广和通   </a:t>
            </a:r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300638 · 模组同行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252728" y="560527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Fibot 具身平台(复现 Mobile ALOHA)· 2024-03(珞博案实为 AI 陪伴玩具,威胁被前高估)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863279" y="5349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平台绑定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14255" y="5513832"/>
            <a:ext cx="1920240" cy="146304"/>
          </a:xfrm>
          <a:prstGeom prst="rect">
            <a:avLst/>
          </a:prstGeom>
          <a:solidFill>
            <a:srgbClr val="212F37"/>
          </a:solidFill>
          <a:ln/>
        </p:spPr>
      </p:sp>
      <p:sp>
        <p:nvSpPr>
          <p:cNvPr id="42" name="Shape 40"/>
          <p:cNvSpPr/>
          <p:nvPr/>
        </p:nvSpPr>
        <p:spPr>
          <a:xfrm>
            <a:off x="9814255" y="5513832"/>
            <a:ext cx="960120" cy="146304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61996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4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移远已在场,但不能只靠“卖模组”守</a:t>
            </a:r>
            <a:pPr indent="0" marL="0">
              <a:buNone/>
            </a:pPr>
            <a:r>
              <a:rPr lang="en-US" sz="13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需向“方案 / 绑定 / 投资”上移,否则被广和通式深绑与原厂直供夹击。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蛋糕多大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三个盘,别混为一谈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给老板讲市场,最容易翻车的是拿“$40 万亿工资替代”当自己的盘。诚实拆分让材料在挑剔的高管面前立得住——移远真正能吃的是最右一块,但它跨品类、增速三位数。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03066" cy="2743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67004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工资替代 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1373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$40–50T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59536" y="42062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黄仁勋 / Figure 的叙事口径。是投资故事,不是硬件营收——移远一分钱吃不到。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4314" y="2377440"/>
            <a:ext cx="3503066" cy="2743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922" y="267004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整机硬件盘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0346" y="3154680"/>
            <a:ext cx="31373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 亿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36922" y="42062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全球 ~5 万台人形 × ~$40K ASP。与摩根士丹利中国 2026 人形 ~$20 亿一致。整机厂分这块。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1701" y="2377440"/>
            <a:ext cx="3503066" cy="2743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C8C88"/>
            </a:solidFill>
            <a:prstDash val="solid"/>
          </a:ln>
          <a:effectLst>
            <a:outerShdw sx="100000" sy="100000" kx="0" ky="0" algn="bl" rotWithShape="0" blurRad="152400" dist="38100" dir="5400000">
              <a:srgbClr val="0C8C8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24567" y="2231136"/>
            <a:ext cx="1600200" cy="292608"/>
          </a:xfrm>
          <a:prstGeom prst="rect">
            <a:avLst/>
          </a:prstGeom>
          <a:solidFill>
            <a:srgbClr val="0C8C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移远可寻址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4309" y="267004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模组可寻址盘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7733" y="3154680"/>
            <a:ext cx="31373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$3–8 亿/年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414309" y="42062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移远能吃的:算力 ~$1–4 亿 + 连接/定位 ~$2–4 亿。跨品类、随整机三位数增长。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94360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诚实的净读数: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模组盘现在小(单位数亿美元),对移远 ¥243 亿营收是零头——机器人是期权和卡位,不是近期利润支柱。不吹增长主引擎,只讲“低成本守住一个高增速、我们已领先的赛道”。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天然打法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移远该做机器人的 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2ED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Inside + 高德地图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不做机器人的 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富士康</a:t>
            </a:r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514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整机品牌大概率洗牌——发改委已警告超 150 个雷同人形项目。但无论谁活下来,都要在机身里塞一块算力、一块连接、一块定位模组。移远赢在卖铲子,而非赌哪个淘金者。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3383280"/>
            <a:ext cx="5391760" cy="137160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841248" y="3712464"/>
            <a:ext cx="109728" cy="109728"/>
          </a:xfrm>
          <a:prstGeom prst="rect">
            <a:avLst/>
          </a:prstGeom>
          <a:solidFill>
            <a:srgbClr val="2ED6CC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356616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横切品类,不押形态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" y="3931920"/>
            <a:ext cx="461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算力+连接+定位是人形/四足/AMR/服务机器人的共同刚需。就算赢家是轮式非拟人手,模组照卖——形态之争对移远近乎中性。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3383280"/>
            <a:ext cx="5391760" cy="137160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6507328" y="3712464"/>
            <a:ext cx="109728" cy="109728"/>
          </a:xfrm>
          <a:prstGeom prst="rect">
            <a:avLst/>
          </a:prstGeom>
          <a:solidFill>
            <a:srgbClr val="2ED6CC"/>
          </a:solidFill>
          <a:ln/>
        </p:spPr>
      </p:sp>
      <p:sp>
        <p:nvSpPr>
          <p:cNvPr id="11" name="Text 9"/>
          <p:cNvSpPr/>
          <p:nvPr/>
        </p:nvSpPr>
        <p:spPr>
          <a:xfrm>
            <a:off x="6726784" y="356616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不与客户抢生意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6784" y="3931920"/>
            <a:ext cx="461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一旦自造整机(如立讯自研机),就成了每个潜在客户的对手,断了供货路。做零部件/方案可同时供 LimX、宇树、德壹而不冲突。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5391760" cy="137160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841248" y="5266944"/>
            <a:ext cx="109728" cy="109728"/>
          </a:xfrm>
          <a:prstGeom prst="rect">
            <a:avLst/>
          </a:prstGeom>
          <a:solidFill>
            <a:srgbClr val="2ED6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51206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复用现成军火库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0704" y="5486400"/>
            <a:ext cx="461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5G/LPWA、Wi-Fi/BT、GNSS、智能模组、天线——都是已量产、已认证、已规模化的产线。护城河是设计冻结时刻的信任 + 量产成熟度。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3008" y="4937760"/>
            <a:ext cx="5391760" cy="137160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6507328" y="5266944"/>
            <a:ext cx="109728" cy="109728"/>
          </a:xfrm>
          <a:prstGeom prst="rect">
            <a:avLst/>
          </a:prstGeom>
          <a:solidFill>
            <a:srgbClr val="2ED6C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6784" y="51206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利润几何更优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6784" y="5486400"/>
            <a:ext cx="461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F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整机组装在 EMS 经济学下只值产品价值 ~6–10%,还背可靠性/交付风险。算力模组是差异化零部件楔子:ASP 高、绑定深、不担整机成败。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强与弱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我们的强与弱(诚实对照)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这一页给 VP 差异化话术,给创始人风险清单——同一组事实,两种用途。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1760" cy="384048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58775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 </a:t>
            </a:r>
            <a:pPr indent="0" marL="0">
              <a:buNone/>
            </a:pPr>
            <a:r>
              <a:rPr lang="en-US" sz="1700" b="1" spc="1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相对优势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rot="2700000">
            <a:off x="914400" y="3227832"/>
            <a:ext cx="109728" cy="109728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3154680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蜂窝连接 全球 #1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“云边混合”架构的天然连接层,可切份额高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2700000">
            <a:off x="914400" y="3941064"/>
            <a:ext cx="109728" cy="109728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3867912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GNSS 定位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算力+连接之外的第三条腿,AMR/割草刚需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2700000">
            <a:off x="914400" y="4654296"/>
            <a:ext cx="109728" cy="109728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4581144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量产成熟度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+ 常州智造中心产能,军火商的护城河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14400" y="5367528"/>
            <a:ext cx="109728" cy="109728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5294376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先发案例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已有具名机器人客户(LimX / 宇树)——先发卡位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2331720"/>
            <a:ext cx="5391760" cy="384048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048" y="258775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 </a:t>
            </a:r>
            <a:pPr indent="0" marL="0">
              <a:buNone/>
            </a:pPr>
            <a:r>
              <a:rPr lang="en-US" sz="1700" b="1" spc="100" kern="0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相对短板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 rot="2700000">
            <a:off x="6580480" y="3227832"/>
            <a:ext cx="109728" cy="109728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18" name="Text 16"/>
          <p:cNvSpPr/>
          <p:nvPr/>
        </p:nvSpPr>
        <p:spPr>
          <a:xfrm>
            <a:off x="6799936" y="3154680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峰值算力落后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 TOPS  vs  Thundercomm 700 · Jetson Thor 2,070 TFLOPS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2700000">
            <a:off x="6580480" y="3941064"/>
            <a:ext cx="109728" cy="109728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0" name="Text 18"/>
          <p:cNvSpPr/>
          <p:nvPr/>
        </p:nvSpPr>
        <p:spPr>
          <a:xfrm>
            <a:off x="6799936" y="3867912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软件/生态深度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 适配、ROS2 集成待补——军火商能否只卖硬件?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2700000">
            <a:off x="6580480" y="4654296"/>
            <a:ext cx="109728" cy="109728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2" name="Text 20"/>
          <p:cNvSpPr/>
          <p:nvPr/>
        </p:nvSpPr>
        <p:spPr>
          <a:xfrm>
            <a:off x="6799936" y="4581144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去中间化风险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高通/NVIDIA 越过模组商直供整机(Figure 直接合作)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rot="2700000">
            <a:off x="6580480" y="5367528"/>
            <a:ext cx="109728" cy="109728"/>
          </a:xfrm>
          <a:prstGeom prst="rect">
            <a:avLst/>
          </a:prstGeom>
          <a:solidFill>
            <a:srgbClr val="E4592A"/>
          </a:solidFill>
          <a:ln/>
        </p:spPr>
      </p:sp>
      <p:sp>
        <p:nvSpPr>
          <p:cNvPr id="24" name="Text 22"/>
          <p:cNvSpPr/>
          <p:nvPr/>
        </p:nvSpPr>
        <p:spPr>
          <a:xfrm>
            <a:off x="6799936" y="5294376"/>
            <a:ext cx="456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具名不足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披露从不点名客户,真实绑定深度外部无法证实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怎么切、能切多少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组合打法:产线级为主,选择性下 1–2 战略注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143000"/>
          </a:xfrm>
          <a:prstGeom prst="rect">
            <a:avLst/>
          </a:prstGeom>
          <a:solidFill>
            <a:srgbClr val="F1F5F5"/>
          </a:solidFill>
          <a:ln w="22225">
            <a:solidFill>
              <a:srgbClr val="0C8C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105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推荐组合(总敞口可控,大部分已在 ¥4.11 亿募投内)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157984"/>
            <a:ext cx="10417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加速算力梯队(100+ TOPS)</a:t>
            </a:r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机器人大脑方案产品化</a:t>
            </a:r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连接/定位全渗透</a:t>
            </a:r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E45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个具身 AI 战略投资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07408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96128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先例 / 参照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13648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关键风险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374136"/>
            <a:ext cx="11057839" cy="548640"/>
          </a:xfrm>
          <a:prstGeom prst="rect">
            <a:avLst/>
          </a:prstGeom>
          <a:solidFill>
            <a:srgbClr val="F1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深化算力梯队 100+ TOPS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3429000"/>
            <a:ext cx="1051560" cy="384048"/>
          </a:xfrm>
          <a:prstGeom prst="rect">
            <a:avLst/>
          </a:prstGeom>
          <a:solidFill>
            <a:srgbClr val="0C8C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产线级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96128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¥4.11 亿募投;美格/Thundercomm 峰值更高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13648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峰值军备竞赛烧钱;原厂压顶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Robrain 大脑方案产品化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07408" y="3977640"/>
            <a:ext cx="1051560" cy="384048"/>
          </a:xfrm>
          <a:prstGeom prst="rect">
            <a:avLst/>
          </a:prstGeom>
          <a:solidFill>
            <a:srgbClr val="0C8C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Robrain×LimX;广和通 Fibot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13648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方案交付重资源;客户或自研大脑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71416"/>
            <a:ext cx="11057839" cy="548640"/>
          </a:xfrm>
          <a:prstGeom prst="rect">
            <a:avLst/>
          </a:prstGeom>
          <a:solidFill>
            <a:srgbClr val="F1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连接+定位全渗透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07408" y="4526280"/>
            <a:ext cx="1051560" cy="384048"/>
          </a:xfrm>
          <a:prstGeom prst="rect">
            <a:avLst/>
          </a:prstGeom>
          <a:solidFill>
            <a:srgbClr val="0C8C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96128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 One、EEVE 已落地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13648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单价低、价格战——但最防御一层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具名整机客户设计导入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07408" y="5074920"/>
            <a:ext cx="1051560" cy="384048"/>
          </a:xfrm>
          <a:prstGeom prst="rect">
            <a:avLst/>
          </a:prstGeom>
          <a:solidFill>
            <a:srgbClr val="0C8C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产线级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96128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宇树、星动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13648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整机洗牌;选资本充足者绑定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568696"/>
            <a:ext cx="11057839" cy="548640"/>
          </a:xfrm>
          <a:prstGeom prst="rect">
            <a:avLst/>
          </a:prstGeom>
          <a:solidFill>
            <a:srgbClr val="F1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战略投资具身 AI 初创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07408" y="5623560"/>
            <a:ext cx="1051560" cy="384048"/>
          </a:xfrm>
          <a:prstGeom prst="rect">
            <a:avLst/>
          </a:prstGeom>
          <a:solidFill>
            <a:srgbClr val="E459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战略级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96128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投 Figure/Skild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13648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泡沫估值;买信息不买产能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8368" y="6172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自造整机 / 等待观望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07408" y="6172200"/>
            <a:ext cx="1051560" cy="384048"/>
          </a:xfrm>
          <a:prstGeom prst="rect">
            <a:avLst/>
          </a:prstGeom>
          <a:solidFill>
            <a:srgbClr val="5A6B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96128" y="6172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立讯自研机 · 纬创事实观望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13648" y="6172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与客户为敌 / 领先却退场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风险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诚实的看空面(这才让 pitch 可信)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主动摆风险,在挑剔的创始人面前加分——而移远的低成本卡位姿态,恰好让这些风险变成非对称:窗口若滑坡,卡位不受伤。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670048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578608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盘子仍小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即便完美 2026,模组盘仍是单位数亿美元,对 ¥243 亿营收是零头。是期权,不是近期 P&amp;L 支柱。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4314" y="2377440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8634" y="2670048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954" y="2578608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可靠性未过关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8634" y="3035808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旗舰西方试点(Figure @ BMW)~11 月后退役、未扩队;行业 MTBF 几无公开数据。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1701" y="2377440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6021" y="2670048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15" name="Text 13"/>
          <p:cNvSpPr/>
          <p:nvPr/>
        </p:nvSpPr>
        <p:spPr>
          <a:xfrm>
            <a:off x="8670341" y="2578608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 / 通缩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96021" y="3035808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模组是利润承压区,中国零部件年通缩 15–20%。算力模组一旦标准化同样滑向价格战。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233672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526280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43484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原厂去中间化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4892040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高通、NVIDIA 越过模组商直供整机;Figure 直接合作。“封 SoM”角色可能被双向挤压。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4314" y="4233672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8634" y="4526280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954" y="443484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峰值算力落后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18634" y="4892040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 TOPS vs 700 / 2,070 TFLOPS——高端全尺寸人形大脑,移远不在第一梯队。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1701" y="4233672"/>
            <a:ext cx="3503066" cy="160020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6021" y="4526280"/>
            <a:ext cx="146304" cy="146304"/>
          </a:xfrm>
          <a:prstGeom prst="ellipse">
            <a:avLst/>
          </a:prstGeom>
          <a:solidFill>
            <a:srgbClr val="E4592A"/>
          </a:solidFill>
          <a:ln/>
        </p:spPr>
      </p:sp>
      <p:sp>
        <p:nvSpPr>
          <p:cNvPr id="27" name="Text 25"/>
          <p:cNvSpPr/>
          <p:nvPr/>
        </p:nvSpPr>
        <p:spPr>
          <a:xfrm>
            <a:off x="8670341" y="443484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时间线常滑坡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96021" y="4892040"/>
            <a:ext cx="30001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Optimus 每个里程碑自 2021 起均延期。所有 2026 放量日期当 aspirational 看。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为什么是现在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非对称:卡位便宜,被锁在放量外昂贵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2026–27 不是“放量”窗口,是“锚定客户 + 设计导入”窗口。移远已经在场,所以“为什么是现在”的答案不是是否进入,而是趁竞速正烈把业务从试点级推到产线级。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503066" cy="192024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95351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国网具身机器人采购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502152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~¥68 亿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41248" y="3995928"/>
            <a:ext cx="30458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台人形 / 3,000 双臂 / 5,000 四足(分阶段);每台都要连接+算力+定位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4314" y="2697480"/>
            <a:ext cx="3503066" cy="192024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0" name="Text 8"/>
          <p:cNvSpPr/>
          <p:nvPr/>
        </p:nvSpPr>
        <p:spPr>
          <a:xfrm>
            <a:off x="4618634" y="295351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工信部“真实场景训练”专项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00346" y="3502152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万台级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618634" y="3995928"/>
            <a:ext cx="30458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2026-06-09;年底前 100+ 高价值场景、部署能力——制度性需求承诺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1701" y="2697480"/>
            <a:ext cx="3503066" cy="1920240"/>
          </a:xfrm>
          <a:prstGeom prst="rect">
            <a:avLst/>
          </a:prstGeom>
          <a:solidFill>
            <a:srgbClr val="18242B"/>
          </a:solidFill>
          <a:ln/>
        </p:spPr>
      </p:sp>
      <p:sp>
        <p:nvSpPr>
          <p:cNvPr id="14" name="Text 12"/>
          <p:cNvSpPr/>
          <p:nvPr/>
        </p:nvSpPr>
        <p:spPr>
          <a:xfrm>
            <a:off x="8396021" y="2953512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整机厂 IPO / SPAC 资本到账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77733" y="3502152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$618M+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8396021" y="3995928"/>
            <a:ext cx="30458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 STAR IPO、Agility SPAC——新融资必须把现金转成产能,make-vs-buy 定案时刻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9377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2C4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这正是军火商姿态的非对称优势: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卡位成本相对移远资产负债表低,被锁在 2028–30 真实放量之外的代价高;窗口若滑坡,低成本卡位也不受伤。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0C8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决策要点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Ask:一页,两个决策者各取所需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4160520"/>
          </a:xfrm>
          <a:prstGeom prst="rect">
            <a:avLst/>
          </a:prstGeom>
          <a:solidFill>
            <a:srgbClr val="0F171C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965960"/>
            <a:ext cx="475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D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给创始人 · 战略决策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404872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把机器人升为正式战略优先级?三档选一: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32688" y="2880360"/>
            <a:ext cx="4660240" cy="786384"/>
          </a:xfrm>
          <a:prstGeom prst="rect">
            <a:avLst/>
          </a:prstGeom>
          <a:solidFill>
            <a:srgbClr val="18242B"/>
          </a:solidFill>
          <a:ln w="12700">
            <a:solidFill>
              <a:srgbClr val="4A4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3008376"/>
            <a:ext cx="438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维持现状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3856" y="3319272"/>
            <a:ext cx="434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继续散点投入,不正式化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" y="3813048"/>
            <a:ext cx="4660240" cy="786384"/>
          </a:xfrm>
          <a:prstGeom prst="rect">
            <a:avLst/>
          </a:prstGeom>
          <a:solidFill>
            <a:srgbClr val="18242B"/>
          </a:solidFill>
          <a:ln w="22225">
            <a:solidFill>
              <a:srgbClr val="0C8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941064"/>
            <a:ext cx="438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产线级正式化 ★推荐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33856" y="4251960"/>
            <a:ext cx="434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独立事业部 + 披露营收 + 100+ TOPS 路线投入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4745736"/>
            <a:ext cx="4660240" cy="786384"/>
          </a:xfrm>
          <a:prstGeom prst="rect">
            <a:avLst/>
          </a:prstGeom>
          <a:solidFill>
            <a:srgbClr val="18242B"/>
          </a:solidFill>
          <a:ln w="12700">
            <a:solidFill>
              <a:srgbClr val="E45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4873752"/>
            <a:ext cx="438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战略级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33856" y="5184648"/>
            <a:ext cx="434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+ 1–2 个具身 AI 战投额度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3008" y="1691640"/>
            <a:ext cx="5391760" cy="4160520"/>
          </a:xfrm>
          <a:prstGeom prst="rect">
            <a:avLst/>
          </a:prstGeom>
          <a:solidFill>
            <a:srgbClr val="F1F5F5"/>
          </a:solidFill>
          <a:ln w="12700">
            <a:solidFill>
              <a:srgbClr val="D8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8768" y="1965960"/>
            <a:ext cx="475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C8C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给销售/市场 VP · 执行授权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8768" y="2404872"/>
            <a:ext cx="475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批准后 90 天,启动: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2700000">
            <a:off x="6690208" y="3026664"/>
            <a:ext cx="128016" cy="128016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20" name="Text 18"/>
          <p:cNvSpPr/>
          <p:nvPr/>
        </p:nvSpPr>
        <p:spPr>
          <a:xfrm>
            <a:off x="6946240" y="2898648"/>
            <a:ext cx="429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 2–3 个资本充足的整机客户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46240" y="3337560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按资本充足度筛选,做设计导入绑定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2700000">
            <a:off x="6690208" y="3959352"/>
            <a:ext cx="128016" cy="128016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6240" y="3831336"/>
            <a:ext cx="429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Robrain 产品化为可复制 SKU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46240" y="4270248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从项目制方案上升到标准产品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2700000">
            <a:off x="6690208" y="4892040"/>
            <a:ext cx="128016" cy="128016"/>
          </a:xfrm>
          <a:prstGeom prst="rect">
            <a:avLst/>
          </a:prstGeom>
          <a:solidFill>
            <a:srgbClr val="0C8C88"/>
          </a:solidFill>
          <a:ln/>
        </p:spPr>
      </p:sp>
      <p:sp>
        <p:nvSpPr>
          <p:cNvPr id="26" name="Text 24"/>
          <p:cNvSpPr/>
          <p:nvPr/>
        </p:nvSpPr>
        <p:spPr>
          <a:xfrm>
            <a:off x="6946240" y="4764024"/>
            <a:ext cx="429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624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连接/定位“全渗透”话术上线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46240" y="5202936"/>
            <a:ext cx="429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#1 蜂窝份额把“每台机器人默认装移远”做成标配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结论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趁 design-win 竞速正烈、整机厂产能决策正在定案、移远仍握先发案例与 #1 连接份额时,</a:t>
            </a:r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2ED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把机器人业务从试点级推到产线级</a:t>
            </a:r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0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,并用 1–2 个战略投资锁定深绑。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拍板前,需 IR / 内部确认的关键项: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现有机器人客户具名名单、每客户量产状态、独家还是多供?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78728" y="3291840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机器人业务真实营收与占总营收(¥243 亿)比例、毛利率?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3895344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算力模组下一代峰值路线图:是否直面 700 TOPS / Jetson Thor 档?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78728" y="3895344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¥4.11 亿募投里机器人子项预算、里程碑、产能目标?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498848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Robrain 除 LimX 外落地几家?量产还是仍 demo?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8728" y="4498848"/>
            <a:ext cx="534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CF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是否有机器人/具身 AI 股权投资额度与标的清单?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全文分析(逐条来源与证据强度):pitch/quectel.md   ·   通用框架见 physicalAI 知识库 ODM 机会图谱 / 硬件底座 / NVIDIA 深度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3093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本材料严格区分工资 TAM(叙事)与硬件营收盘;所有单源/未证实项已标注(一手/二手/粗估);经对抗式核查(纠正广和通-珞博为 AI 陪伴玩具而非人形等 6 处)。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移远通信 × Physical AI — 机会评估</dc:title>
  <dc:subject>PptxGenJS Presentation</dc:subject>
  <dc:creator>physicalAI</dc:creator>
  <cp:lastModifiedBy>physicalAI</cp:lastModifiedBy>
  <cp:revision>1</cp:revision>
  <dcterms:created xsi:type="dcterms:W3CDTF">2026-07-05T07:33:22Z</dcterms:created>
  <dcterms:modified xsi:type="dcterms:W3CDTF">2026-07-05T07:33:22Z</dcterms:modified>
</cp:coreProperties>
</file>